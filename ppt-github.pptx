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7" r:id="rId7"/>
    <p:sldId id="278" r:id="rId8"/>
    <p:sldId id="279" r:id="rId9"/>
    <p:sldId id="264" r:id="rId10"/>
    <p:sldId id="266" r:id="rId11"/>
    <p:sldId id="267" r:id="rId12"/>
    <p:sldId id="268" r:id="rId13"/>
    <p:sldId id="269" r:id="rId14"/>
    <p:sldId id="276" r:id="rId15"/>
    <p:sldId id="272" r:id="rId16"/>
    <p:sldId id="273" r:id="rId17"/>
    <p:sldId id="270" r:id="rId18"/>
    <p:sldId id="275"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47D37E-5EA7-4859-A6A7-03FC69CF7D5F}" v="16" dt="2026-07-14T10:34:06.342"/>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25" autoAdjust="0"/>
    <p:restoredTop sz="94660"/>
  </p:normalViewPr>
  <p:slideViewPr>
    <p:cSldViewPr snapToGrid="0">
      <p:cViewPr varScale="1">
        <p:scale>
          <a:sx n="65" d="100"/>
          <a:sy n="65" d="100"/>
        </p:scale>
        <p:origin x="1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4940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github.com/Pragati2203/RECIPIE-PREPARATION-AGEN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7.jpeg"/><Relationship Id="rId1" Type="http://schemas.openxmlformats.org/officeDocument/2006/relationships/slideLayout" Target="../slideLayouts/slideLayout6.xml"/><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0.jpeg"/><Relationship Id="rId1" Type="http://schemas.openxmlformats.org/officeDocument/2006/relationships/slideLayout" Target="../slideLayouts/slideLayout6.xml"/><Relationship Id="rId4" Type="http://schemas.openxmlformats.org/officeDocument/2006/relationships/image" Target="../media/image21.emf"/></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e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5" name="Picture 4">
            <a:extLst>
              <a:ext uri="{FF2B5EF4-FFF2-40B4-BE49-F238E27FC236}">
                <a16:creationId xmlns:a16="http://schemas.microsoft.com/office/drawing/2014/main" id="{536AFFAF-9FD0-334E-61DF-633B352AD42E}"/>
              </a:ext>
            </a:extLst>
          </p:cNvPr>
          <p:cNvPicPr>
            <a:picLocks noChangeAspect="1"/>
          </p:cNvPicPr>
          <p:nvPr/>
        </p:nvPicPr>
        <p:blipFill>
          <a:blip r:embed="rId3"/>
          <a:stretch>
            <a:fillRect/>
          </a:stretch>
        </p:blipFill>
        <p:spPr>
          <a:xfrm>
            <a:off x="0" y="0"/>
            <a:ext cx="12270658" cy="6858000"/>
          </a:xfrm>
          <a:prstGeom prst="rect">
            <a:avLst/>
          </a:prstGeom>
        </p:spPr>
      </p:pic>
      <p:sp>
        <p:nvSpPr>
          <p:cNvPr id="78" name="Google Shape;78;p33"/>
          <p:cNvSpPr txBox="1">
            <a:spLocks noGrp="1"/>
          </p:cNvSpPr>
          <p:nvPr>
            <p:ph type="title"/>
          </p:nvPr>
        </p:nvSpPr>
        <p:spPr>
          <a:xfrm>
            <a:off x="838200" y="576263"/>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228601" y="3428999"/>
            <a:ext cx="11805556" cy="2367643"/>
          </a:xfrm>
          <a:prstGeom prst="rect">
            <a:avLst/>
          </a:prstGeom>
          <a:noFill/>
          <a:ln>
            <a:noFill/>
          </a:ln>
        </p:spPr>
        <p:txBody>
          <a:bodyPr spcFirstLastPara="1" wrap="square" lIns="91425" tIns="45700" rIns="91425" bIns="45700" anchor="t" anchorCtr="0">
            <a:normAutofit/>
          </a:bodyPr>
          <a:lstStyle/>
          <a:p>
            <a:pPr lvl="0" algn="ctr"/>
            <a:r>
              <a:rPr lang="en-US" b="1" i="1" dirty="0"/>
              <a:t>“Exploring the Power of Agentic AI with IBM  Cloud”</a:t>
            </a:r>
            <a:endParaRPr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3" name="Picture 2">
            <a:extLst>
              <a:ext uri="{FF2B5EF4-FFF2-40B4-BE49-F238E27FC236}">
                <a16:creationId xmlns:a16="http://schemas.microsoft.com/office/drawing/2014/main" id="{10D149D7-F485-0E5B-FE90-A341C4F03ADA}"/>
              </a:ext>
            </a:extLst>
          </p:cNvPr>
          <p:cNvPicPr>
            <a:picLocks noChangeAspect="1"/>
          </p:cNvPicPr>
          <p:nvPr/>
        </p:nvPicPr>
        <p:blipFill>
          <a:blip r:embed="rId3"/>
          <a:stretch>
            <a:fillRect/>
          </a:stretch>
        </p:blipFill>
        <p:spPr>
          <a:xfrm>
            <a:off x="0" y="148168"/>
            <a:ext cx="12506631" cy="6841882"/>
          </a:xfrm>
          <a:prstGeom prst="rect">
            <a:avLst/>
          </a:prstGeom>
        </p:spPr>
      </p:pic>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[Food &amp; Healthcare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1" dirty="0">
                <a:solidFill>
                  <a:schemeClr val="tx1"/>
                </a:solidFill>
                <a:highlight>
                  <a:srgbClr val="FFFF00"/>
                </a:highlight>
              </a:rPr>
              <a:t>AI-POWERED RECIPE PREPARATION AGENT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AC0A8F2-F184-F383-227B-CB42ED30ABE0}"/>
              </a:ext>
            </a:extLst>
          </p:cNvPr>
          <p:cNvPicPr>
            <a:picLocks noChangeAspect="1"/>
          </p:cNvPicPr>
          <p:nvPr/>
        </p:nvPicPr>
        <p:blipFill>
          <a:blip r:embed="rId3"/>
          <a:srcRect l="13639" r="1" b="1"/>
          <a:stretch>
            <a:fillRect/>
          </a:stretch>
        </p:blipFill>
        <p:spPr>
          <a:xfrm>
            <a:off x="2522356" y="10"/>
            <a:ext cx="9669642" cy="6857990"/>
          </a:xfrm>
          <a:prstGeom prst="rect">
            <a:avLst/>
          </a:prstGeom>
        </p:spPr>
      </p:pic>
      <p:sp>
        <p:nvSpPr>
          <p:cNvPr id="106" name="Rectangle 10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Google Shape;96;p34"/>
          <p:cNvSpPr txBox="1"/>
          <p:nvPr/>
        </p:nvSpPr>
        <p:spPr>
          <a:xfrm>
            <a:off x="838200" y="365125"/>
            <a:ext cx="5368290" cy="1899912"/>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000" b="1" i="0" u="none" strike="noStrike" kern="1200" cap="none" dirty="0">
                <a:solidFill>
                  <a:schemeClr val="tx1"/>
                </a:solidFill>
                <a:latin typeface="+mj-lt"/>
                <a:ea typeface="+mj-ea"/>
                <a:cs typeface="+mj-cs"/>
                <a:sym typeface="Arial"/>
              </a:rPr>
              <a:t>Problem Statement -</a:t>
            </a:r>
          </a:p>
        </p:txBody>
      </p:sp>
      <p:sp>
        <p:nvSpPr>
          <p:cNvPr id="95" name="Google Shape;95;p34"/>
          <p:cNvSpPr txBox="1"/>
          <p:nvPr/>
        </p:nvSpPr>
        <p:spPr>
          <a:xfrm>
            <a:off x="696660" y="1896990"/>
            <a:ext cx="6892860" cy="4755269"/>
          </a:xfrm>
          <a:prstGeom prst="rect">
            <a:avLst/>
          </a:prstGeom>
        </p:spPr>
        <p:txBody>
          <a:bodyPr spcFirstLastPara="1" vert="horz" lIns="91440" tIns="45720" rIns="91440" bIns="45720" rtlCol="0" anchorCtr="0">
            <a:normAutofit lnSpcReduction="10000"/>
          </a:bodyPr>
          <a:lstStyle/>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Problem Statement : </a:t>
            </a:r>
            <a:r>
              <a:rPr lang="en-US" sz="1800" b="1" kern="1200" dirty="0">
                <a:solidFill>
                  <a:schemeClr val="tx1"/>
                </a:solidFill>
                <a:latin typeface="+mn-lt"/>
                <a:ea typeface="+mn-ea"/>
                <a:cs typeface="+mn-cs"/>
              </a:rPr>
              <a:t>Recipe Preparation</a:t>
            </a:r>
            <a:r>
              <a:rPr lang="en-US" sz="1800" b="1" i="0" u="none" strike="noStrike" kern="1200" cap="none" dirty="0">
                <a:solidFill>
                  <a:schemeClr val="tx1"/>
                </a:solidFill>
                <a:latin typeface="+mn-lt"/>
                <a:ea typeface="+mn-ea"/>
                <a:cs typeface="+mn-cs"/>
                <a:sym typeface="Arial"/>
              </a:rPr>
              <a:t> Agent </a:t>
            </a:r>
            <a:endParaRPr lang="en-US" sz="1800" b="1" kern="1200" dirty="0">
              <a:solidFill>
                <a:schemeClr val="tx1"/>
              </a:solidFill>
              <a:latin typeface="+mn-lt"/>
              <a:ea typeface="+mn-ea"/>
              <a:cs typeface="+mn-cs"/>
            </a:endParaRPr>
          </a:p>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The Challenge</a:t>
            </a:r>
            <a:r>
              <a:rPr lang="en-US" sz="1800" b="0" i="0" u="none" strike="noStrike" kern="1200" cap="none" dirty="0">
                <a:solidFill>
                  <a:schemeClr val="tx1"/>
                </a:solidFill>
                <a:latin typeface="+mn-lt"/>
                <a:ea typeface="+mn-ea"/>
                <a:cs typeface="+mn-cs"/>
                <a:sym typeface="Arial"/>
              </a:rPr>
              <a:t> </a:t>
            </a:r>
          </a:p>
          <a:p>
            <a:pPr marR="0" lvl="0">
              <a:lnSpc>
                <a:spcPct val="90000"/>
              </a:lnSpc>
              <a:spcBef>
                <a:spcPts val="0"/>
              </a:spcBef>
              <a:spcAft>
                <a:spcPts val="600"/>
              </a:spcAft>
            </a:pPr>
            <a:r>
              <a:rPr lang="en-US" kern="1200" dirty="0">
                <a:solidFill>
                  <a:schemeClr val="tx1"/>
                </a:solidFill>
                <a:latin typeface="+mn-lt"/>
                <a:ea typeface="+mn-ea"/>
                <a:cs typeface="+mn-cs"/>
              </a:rPr>
              <a:t>Many people find it difficult to decide what to cook using the ingredients they already have. Beginners often need clear cooking instructions, and people with dietary restrictions struggle to find suitable recipes. Searching multiple websites is </a:t>
            </a:r>
            <a:r>
              <a:rPr lang="en-US" sz="1500" kern="1200" dirty="0">
                <a:solidFill>
                  <a:schemeClr val="tx1"/>
                </a:solidFill>
                <a:latin typeface="+mn-lt"/>
                <a:ea typeface="+mn-ea"/>
                <a:cs typeface="+mn-cs"/>
              </a:rPr>
              <a:t>time-consuming and often gives inconsistent information.</a:t>
            </a:r>
          </a:p>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The Objective</a:t>
            </a:r>
            <a:r>
              <a:rPr lang="en-US" sz="1800" b="0" i="0" u="none" strike="noStrike" kern="1200" cap="none" dirty="0">
                <a:solidFill>
                  <a:schemeClr val="tx1"/>
                </a:solidFill>
                <a:latin typeface="+mn-lt"/>
                <a:ea typeface="+mn-ea"/>
                <a:cs typeface="+mn-cs"/>
                <a:sym typeface="Arial"/>
              </a:rPr>
              <a:t> </a:t>
            </a:r>
            <a:endParaRPr lang="en-US" sz="1800" kern="1200" dirty="0">
              <a:solidFill>
                <a:schemeClr val="tx1"/>
              </a:solidFill>
              <a:latin typeface="+mn-lt"/>
              <a:ea typeface="+mn-ea"/>
              <a:cs typeface="+mn-cs"/>
            </a:endParaRPr>
          </a:p>
          <a:p>
            <a:pPr>
              <a:lnSpc>
                <a:spcPct val="90000"/>
              </a:lnSpc>
              <a:spcAft>
                <a:spcPts val="600"/>
              </a:spcAft>
            </a:pPr>
            <a:r>
              <a:rPr lang="en-US" kern="1200" dirty="0">
                <a:solidFill>
                  <a:schemeClr val="tx1"/>
                </a:solidFill>
                <a:latin typeface="+mn-lt"/>
                <a:ea typeface="+mn-ea"/>
                <a:cs typeface="+mn-cs"/>
              </a:rPr>
              <a:t>Develop an </a:t>
            </a:r>
            <a:r>
              <a:rPr lang="en-US" b="1" kern="1200" dirty="0">
                <a:solidFill>
                  <a:schemeClr val="tx1"/>
                </a:solidFill>
                <a:latin typeface="+mn-lt"/>
                <a:ea typeface="+mn-ea"/>
                <a:cs typeface="+mn-cs"/>
              </a:rPr>
              <a:t>AI-powered Recipe Preparation Agent</a:t>
            </a:r>
            <a:r>
              <a:rPr lang="en-US" kern="1200" dirty="0">
                <a:solidFill>
                  <a:schemeClr val="tx1"/>
                </a:solidFill>
                <a:latin typeface="+mn-lt"/>
                <a:ea typeface="+mn-ea"/>
                <a:cs typeface="+mn-cs"/>
              </a:rPr>
              <a:t> that helps users prepare meals by providing personalized recipe suggestions, ingredient substitutions, step-by-step cooking instructions, cooking tips, and nutritional information.</a:t>
            </a:r>
          </a:p>
          <a:p>
            <a:pPr>
              <a:lnSpc>
                <a:spcPct val="90000"/>
              </a:lnSpc>
              <a:spcAft>
                <a:spcPts val="600"/>
              </a:spcAft>
            </a:pPr>
            <a:r>
              <a:rPr lang="en-US" kern="1200" dirty="0">
                <a:solidFill>
                  <a:schemeClr val="tx1"/>
                </a:solidFill>
                <a:latin typeface="+mn-lt"/>
                <a:ea typeface="+mn-ea"/>
                <a:cs typeface="+mn-cs"/>
              </a:rPr>
              <a:t>The solution should:</a:t>
            </a:r>
          </a:p>
          <a:p>
            <a:pPr marL="28575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Suggest recipes based on available ingredients.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Provide step-by-step cooking instructions.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Recommend ingredient substitutes.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Generate recipes according to dietary preferences (vegetarian, vegan, diabetic, gluten-free, etc.).</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Estimate cooking time.</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Provide nutritional information.</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Generate a shopping list for missing ingredients.</a:t>
            </a:r>
            <a:endParaRPr lang="en-US"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0"/>
        <p:cNvGrpSpPr/>
        <p:nvPr/>
      </p:nvGrpSpPr>
      <p:grpSpPr>
        <a:xfrm>
          <a:off x="0" y="0"/>
          <a:ext cx="0" cy="0"/>
          <a:chOff x="0" y="0"/>
          <a:chExt cx="0" cy="0"/>
        </a:xfrm>
      </p:grpSpPr>
      <p:sp useBgFill="1">
        <p:nvSpPr>
          <p:cNvPr id="107" name="Rectangle 106">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EFECDD3-5C53-F8AE-9240-8FE75F0222BF}"/>
              </a:ext>
            </a:extLst>
          </p:cNvPr>
          <p:cNvPicPr>
            <a:picLocks noChangeAspect="1"/>
          </p:cNvPicPr>
          <p:nvPr/>
        </p:nvPicPr>
        <p:blipFill>
          <a:blip r:embed="rId3"/>
          <a:srcRect l="35363" t="6027" b="3064"/>
          <a:stretch>
            <a:fillRect/>
          </a:stretch>
        </p:blipFill>
        <p:spPr>
          <a:xfrm>
            <a:off x="5563996" y="0"/>
            <a:ext cx="8668512" cy="6857990"/>
          </a:xfrm>
          <a:prstGeom prst="rect">
            <a:avLst/>
          </a:prstGeom>
        </p:spPr>
      </p:pic>
      <p:sp>
        <p:nvSpPr>
          <p:cNvPr id="109" name="Rectangle 108">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Google Shape;102;p35"/>
          <p:cNvSpPr txBox="1"/>
          <p:nvPr/>
        </p:nvSpPr>
        <p:spPr>
          <a:xfrm>
            <a:off x="424815" y="796915"/>
            <a:ext cx="4501069" cy="694939"/>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2800" b="1" i="0" strike="noStrike" kern="1200" cap="none" dirty="0">
                <a:solidFill>
                  <a:schemeClr val="tx1"/>
                </a:solidFill>
                <a:latin typeface="+mj-lt"/>
                <a:ea typeface="+mj-ea"/>
                <a:cs typeface="+mj-cs"/>
                <a:sym typeface="Arial"/>
              </a:rPr>
              <a:t>Proposed</a:t>
            </a:r>
            <a:r>
              <a:rPr lang="en-US" sz="2800" b="1" i="0" u="none" strike="noStrike" kern="1200" cap="none" dirty="0">
                <a:solidFill>
                  <a:schemeClr val="tx1"/>
                </a:solidFill>
                <a:latin typeface="+mj-lt"/>
                <a:ea typeface="+mj-ea"/>
                <a:cs typeface="+mj-cs"/>
                <a:sym typeface="Arial"/>
              </a:rPr>
              <a:t> </a:t>
            </a:r>
            <a:r>
              <a:rPr lang="en-US" sz="3200" b="1" i="0" u="none" strike="noStrike" kern="1200" cap="none" dirty="0">
                <a:solidFill>
                  <a:schemeClr val="tx1"/>
                </a:solidFill>
                <a:latin typeface="+mj-lt"/>
                <a:ea typeface="+mj-ea"/>
                <a:cs typeface="+mj-cs"/>
                <a:sym typeface="Arial"/>
              </a:rPr>
              <a:t>Solution</a:t>
            </a:r>
            <a:r>
              <a:rPr lang="en-US" sz="2800" b="1" i="0" u="none" strike="noStrike" kern="1200" cap="none" dirty="0">
                <a:solidFill>
                  <a:schemeClr val="tx1"/>
                </a:solidFill>
                <a:latin typeface="+mj-lt"/>
                <a:ea typeface="+mj-ea"/>
                <a:cs typeface="+mj-cs"/>
                <a:sym typeface="Arial"/>
              </a:rPr>
              <a:t> -</a:t>
            </a:r>
          </a:p>
        </p:txBody>
      </p:sp>
      <p:sp>
        <p:nvSpPr>
          <p:cNvPr id="111" name="Rectangle 11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3" name="Rectangle 11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Google Shape;101;p35"/>
          <p:cNvSpPr txBox="1"/>
          <p:nvPr/>
        </p:nvSpPr>
        <p:spPr>
          <a:xfrm>
            <a:off x="371093" y="1208314"/>
            <a:ext cx="6748163" cy="4716998"/>
          </a:xfrm>
          <a:prstGeom prst="rect">
            <a:avLst/>
          </a:prstGeom>
        </p:spPr>
        <p:txBody>
          <a:bodyPr spcFirstLastPara="1" vert="horz" lIns="91440" tIns="45720" rIns="91440" bIns="45720" rtlCol="0" anchor="t" anchorCtr="0">
            <a:normAutofit/>
          </a:bodyPr>
          <a:lstStyle/>
          <a:p>
            <a:pPr marL="0" marR="0" lvl="0" indent="-228600">
              <a:lnSpc>
                <a:spcPct val="90000"/>
              </a:lnSpc>
              <a:spcBef>
                <a:spcPts val="0"/>
              </a:spcBef>
              <a:spcAft>
                <a:spcPts val="600"/>
              </a:spcAft>
              <a:buFont typeface="Arial" panose="020B0604020202020204" pitchFamily="34" charset="0"/>
              <a:buChar char="•"/>
            </a:pPr>
            <a:endParaRPr lang="en-US" sz="1200" b="1"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4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400" b="0" i="0" u="none" strike="noStrike" kern="1200" cap="none" dirty="0">
              <a:solidFill>
                <a:schemeClr val="tx1"/>
              </a:solidFill>
              <a:latin typeface="+mn-lt"/>
              <a:ea typeface="+mn-ea"/>
              <a:cs typeface="+mn-cs"/>
              <a:sym typeface="Arial"/>
            </a:endParaRPr>
          </a:p>
        </p:txBody>
      </p:sp>
      <p:sp>
        <p:nvSpPr>
          <p:cNvPr id="4" name="TextBox 3">
            <a:extLst>
              <a:ext uri="{FF2B5EF4-FFF2-40B4-BE49-F238E27FC236}">
                <a16:creationId xmlns:a16="http://schemas.microsoft.com/office/drawing/2014/main" id="{F1C5FA5E-E2A0-0C32-EA32-F84C88687E6B}"/>
              </a:ext>
            </a:extLst>
          </p:cNvPr>
          <p:cNvSpPr txBox="1"/>
          <p:nvPr/>
        </p:nvSpPr>
        <p:spPr>
          <a:xfrm>
            <a:off x="424815" y="1709057"/>
            <a:ext cx="7543528" cy="4431983"/>
          </a:xfrm>
          <a:prstGeom prst="rect">
            <a:avLst/>
          </a:prstGeom>
          <a:noFill/>
        </p:spPr>
        <p:txBody>
          <a:bodyPr wrap="square" rtlCol="0">
            <a:spAutoFit/>
          </a:bodyPr>
          <a:lstStyle/>
          <a:p>
            <a:r>
              <a:rPr lang="en-IN" sz="1600" dirty="0"/>
              <a:t>The proposed solution is an </a:t>
            </a:r>
            <a:r>
              <a:rPr lang="en-IN" sz="1600" b="1" dirty="0"/>
              <a:t>AI-powered Recipe Preparation Agent</a:t>
            </a:r>
            <a:r>
              <a:rPr lang="en-IN" sz="1600" dirty="0"/>
              <a:t> developed using </a:t>
            </a:r>
            <a:r>
              <a:rPr lang="en-IN" sz="1600" b="1" dirty="0"/>
              <a:t>IBM Granite Models, and watsonx.ai</a:t>
            </a:r>
            <a:r>
              <a:rPr lang="en-IN" sz="1600" dirty="0"/>
              <a:t>.</a:t>
            </a:r>
          </a:p>
          <a:p>
            <a:r>
              <a:rPr lang="en-IN" sz="1600" dirty="0"/>
              <a:t>The system uses </a:t>
            </a:r>
            <a:r>
              <a:rPr lang="en-IN" sz="1600" b="1" dirty="0"/>
              <a:t>Retrieval-Augmented Generation (RAG)</a:t>
            </a:r>
            <a:r>
              <a:rPr lang="en-IN" sz="1600" dirty="0"/>
              <a:t> to retrieve reliable recipe information from trusted cooking databases.</a:t>
            </a:r>
          </a:p>
          <a:p>
            <a:endParaRPr lang="en-IN" dirty="0"/>
          </a:p>
          <a:p>
            <a:r>
              <a:rPr lang="en-IN" sz="1600" b="1" dirty="0"/>
              <a:t>The Recipe Agent contains four intelligent agents:</a:t>
            </a:r>
          </a:p>
          <a:p>
            <a:r>
              <a:rPr lang="en-IN" sz="1600" b="1" dirty="0"/>
              <a:t>1. Recipe Recommendation Agent</a:t>
            </a:r>
          </a:p>
          <a:p>
            <a:r>
              <a:rPr lang="en-IN" sz="1600" dirty="0"/>
              <a:t>Suggests recipes based on ingredients available with the user.</a:t>
            </a:r>
          </a:p>
          <a:p>
            <a:r>
              <a:rPr lang="en-IN" sz="1600" b="1" dirty="0"/>
              <a:t>2. Cooking Instruction Agent</a:t>
            </a:r>
          </a:p>
          <a:p>
            <a:r>
              <a:rPr lang="en-IN" sz="1600" dirty="0"/>
              <a:t>Provides detailed step-by-step cooking instructions.</a:t>
            </a:r>
          </a:p>
          <a:p>
            <a:r>
              <a:rPr lang="en-IN" sz="1600" b="1" dirty="0"/>
              <a:t>3. Ingredient Substitute Agent</a:t>
            </a:r>
          </a:p>
          <a:p>
            <a:r>
              <a:rPr lang="en-IN" sz="1600" dirty="0"/>
              <a:t>Suggests suitable alternatives for unavailable ingredients.</a:t>
            </a:r>
          </a:p>
          <a:p>
            <a:r>
              <a:rPr lang="en-IN" sz="1600" b="1" dirty="0"/>
              <a:t>4. Nutrition &amp; Health Agent</a:t>
            </a:r>
          </a:p>
          <a:p>
            <a:r>
              <a:rPr lang="en-IN" sz="1600" dirty="0"/>
              <a:t>Calculates calories and recommends healthier recipe options.</a:t>
            </a:r>
          </a:p>
          <a:p>
            <a:r>
              <a:rPr lang="en-IN" sz="1600" dirty="0"/>
              <a:t>The system can also generate shopping lists and personalize recipes according to user preferences.</a:t>
            </a:r>
          </a:p>
          <a:p>
            <a:endParaRPr lang="en-IN" dirty="0"/>
          </a:p>
          <a:p>
            <a:endParaRPr lang="en-IN" dirty="0"/>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6"/>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B43320C-60B6-64D9-F3B0-D9DB72175CEB}"/>
              </a:ext>
            </a:extLst>
          </p:cNvPr>
          <p:cNvPicPr>
            <a:picLocks noChangeAspect="1"/>
          </p:cNvPicPr>
          <p:nvPr/>
        </p:nvPicPr>
        <p:blipFill>
          <a:blip r:embed="rId3"/>
          <a:srcRect r="20689"/>
          <a:stretch>
            <a:fillRect/>
          </a:stretch>
        </p:blipFill>
        <p:spPr>
          <a:xfrm>
            <a:off x="1" y="10"/>
            <a:ext cx="9669642" cy="6857990"/>
          </a:xfrm>
          <a:prstGeom prst="rect">
            <a:avLst/>
          </a:prstGeom>
        </p:spPr>
      </p:pic>
      <p:sp>
        <p:nvSpPr>
          <p:cNvPr id="115" name="Rectangle 1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Google Shape;107;p36"/>
          <p:cNvSpPr txBox="1"/>
          <p:nvPr/>
        </p:nvSpPr>
        <p:spPr>
          <a:xfrm>
            <a:off x="5624052" y="365125"/>
            <a:ext cx="5729747" cy="1899912"/>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000" b="1" i="0" u="none" strike="noStrike" kern="1200" cap="none" dirty="0">
                <a:solidFill>
                  <a:schemeClr val="tx1"/>
                </a:solidFill>
                <a:latin typeface="+mj-lt"/>
                <a:ea typeface="+mj-ea"/>
                <a:cs typeface="+mj-cs"/>
                <a:sym typeface="Arial"/>
              </a:rPr>
              <a:t>Technology Used</a:t>
            </a:r>
          </a:p>
        </p:txBody>
      </p:sp>
      <p:sp>
        <p:nvSpPr>
          <p:cNvPr id="108" name="Google Shape;108;p36"/>
          <p:cNvSpPr txBox="1"/>
          <p:nvPr/>
        </p:nvSpPr>
        <p:spPr>
          <a:xfrm>
            <a:off x="5622039" y="1942587"/>
            <a:ext cx="5370426" cy="4802341"/>
          </a:xfrm>
          <a:prstGeom prst="rect">
            <a:avLst/>
          </a:prstGeom>
        </p:spPr>
        <p:txBody>
          <a:bodyPr spcFirstLastPara="1" vert="horz" lIns="91440" tIns="45720" rIns="91440" bIns="45720" rtlCol="0" anchorCtr="0">
            <a:normAutofit/>
          </a:bodyPr>
          <a:lstStyle/>
          <a:p>
            <a:pPr marL="285750" marR="0" lvl="0" indent="-228600">
              <a:lnSpc>
                <a:spcPct val="90000"/>
              </a:lnSpc>
              <a:spcBef>
                <a:spcPts val="0"/>
              </a:spcBef>
              <a:spcAft>
                <a:spcPts val="600"/>
              </a:spcAft>
              <a:buClr>
                <a:srgbClr val="000000"/>
              </a:buClr>
              <a:buSzPts val="1800"/>
              <a:buFont typeface="Arial" panose="020B0604020202020204" pitchFamily="34" charset="0"/>
              <a:buChar char="•"/>
            </a:pPr>
            <a:endParaRPr lang="en-US" sz="1600" b="0" i="0" u="none" strike="noStrike" kern="1200" cap="none" dirty="0">
              <a:solidFill>
                <a:schemeClr val="tx1"/>
              </a:solidFill>
              <a:latin typeface="+mn-lt"/>
              <a:ea typeface="+mn-ea"/>
              <a:cs typeface="+mn-cs"/>
              <a:sym typeface="Arial"/>
            </a:endParaRPr>
          </a:p>
          <a:p>
            <a:pPr marL="285750" marR="0" lvl="0" indent="-228600">
              <a:lnSpc>
                <a:spcPct val="90000"/>
              </a:lnSpc>
              <a:spcBef>
                <a:spcPts val="0"/>
              </a:spcBef>
              <a:spcAft>
                <a:spcPts val="600"/>
              </a:spcAft>
              <a:buClr>
                <a:srgbClr val="000000"/>
              </a:buClr>
              <a:buSzPts val="1800"/>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p:txBody>
      </p:sp>
      <p:sp>
        <p:nvSpPr>
          <p:cNvPr id="4" name="TextBox 3">
            <a:extLst>
              <a:ext uri="{FF2B5EF4-FFF2-40B4-BE49-F238E27FC236}">
                <a16:creationId xmlns:a16="http://schemas.microsoft.com/office/drawing/2014/main" id="{12CB6DC8-D655-A732-D871-26F2CCF36AE5}"/>
              </a:ext>
            </a:extLst>
          </p:cNvPr>
          <p:cNvSpPr txBox="1"/>
          <p:nvPr/>
        </p:nvSpPr>
        <p:spPr>
          <a:xfrm>
            <a:off x="5622039" y="1942587"/>
            <a:ext cx="5842374" cy="1631216"/>
          </a:xfrm>
          <a:prstGeom prst="rect">
            <a:avLst/>
          </a:prstGeom>
          <a:noFill/>
        </p:spPr>
        <p:txBody>
          <a:bodyPr wrap="square" rtlCol="0">
            <a:spAutoFit/>
          </a:bodyPr>
          <a:lstStyle/>
          <a:p>
            <a:pPr marL="285750" indent="-285750">
              <a:buFont typeface="Arial" panose="020B0604020202020204" pitchFamily="34" charset="0"/>
              <a:buChar char="•"/>
            </a:pPr>
            <a:r>
              <a:rPr lang="en-IN" sz="2000" dirty="0"/>
              <a:t>IBM watsonx.ai</a:t>
            </a:r>
          </a:p>
          <a:p>
            <a:pPr marL="285750" indent="-285750">
              <a:buFont typeface="Arial" panose="020B0604020202020204" pitchFamily="34" charset="0"/>
              <a:buChar char="•"/>
            </a:pPr>
            <a:r>
              <a:rPr lang="en-IN" sz="2000" dirty="0"/>
              <a:t>IBM Granite 3.2 / Granite 4.0 </a:t>
            </a:r>
          </a:p>
          <a:p>
            <a:pPr marL="285750" indent="-285750">
              <a:buFont typeface="Arial" panose="020B0604020202020204" pitchFamily="34" charset="0"/>
              <a:buChar char="•"/>
            </a:pPr>
            <a:r>
              <a:rPr lang="en-IN" sz="2000" dirty="0"/>
              <a:t>Retrieval Augmented Generation (RAG) </a:t>
            </a:r>
          </a:p>
          <a:p>
            <a:pPr marL="285750" indent="-285750">
              <a:buFont typeface="Arial" panose="020B0604020202020204" pitchFamily="34" charset="0"/>
              <a:buChar char="•"/>
            </a:pPr>
            <a:r>
              <a:rPr lang="en-IN" sz="2000" dirty="0"/>
              <a:t>IBM Cloud</a:t>
            </a:r>
          </a:p>
          <a:p>
            <a:pPr marL="285750" indent="-285750">
              <a:buFont typeface="Arial" panose="020B0604020202020204" pitchFamily="34" charset="0"/>
              <a:buChar char="•"/>
            </a:pPr>
            <a:r>
              <a:rPr lang="en-IN" sz="2000" dirty="0"/>
              <a:t>Python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8DC6FCD-811B-436E-9FEE-FC957486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C32B9B8D-F6A6-C35E-6998-0BF54C4580BC}"/>
              </a:ext>
            </a:extLst>
          </p:cNvPr>
          <p:cNvPicPr>
            <a:picLocks noChangeAspect="1"/>
          </p:cNvPicPr>
          <p:nvPr/>
        </p:nvPicPr>
        <p:blipFill>
          <a:blip r:embed="rId3"/>
          <a:srcRect r="-2" b="2981"/>
          <a:stretch>
            <a:fillRect/>
          </a:stretch>
        </p:blipFill>
        <p:spPr>
          <a:xfrm>
            <a:off x="198739" y="171717"/>
            <a:ext cx="5804105" cy="3167426"/>
          </a:xfrm>
          <a:prstGeom prst="rect">
            <a:avLst/>
          </a:prstGeom>
        </p:spPr>
      </p:pic>
      <p:pic>
        <p:nvPicPr>
          <p:cNvPr id="12" name="Picture 11">
            <a:extLst>
              <a:ext uri="{FF2B5EF4-FFF2-40B4-BE49-F238E27FC236}">
                <a16:creationId xmlns:a16="http://schemas.microsoft.com/office/drawing/2014/main" id="{E23A2E35-6CE7-FF72-013C-E53BE2CDB7B0}"/>
              </a:ext>
            </a:extLst>
          </p:cNvPr>
          <p:cNvPicPr>
            <a:picLocks noChangeAspect="1"/>
          </p:cNvPicPr>
          <p:nvPr/>
        </p:nvPicPr>
        <p:blipFill>
          <a:blip r:embed="rId4"/>
          <a:srcRect r="2" b="2881"/>
          <a:stretch>
            <a:fillRect/>
          </a:stretch>
        </p:blipFill>
        <p:spPr>
          <a:xfrm>
            <a:off x="6195373" y="171717"/>
            <a:ext cx="5797883" cy="3167426"/>
          </a:xfrm>
          <a:prstGeom prst="rect">
            <a:avLst/>
          </a:prstGeom>
        </p:spPr>
      </p:pic>
      <p:pic>
        <p:nvPicPr>
          <p:cNvPr id="8" name="Picture 7">
            <a:extLst>
              <a:ext uri="{FF2B5EF4-FFF2-40B4-BE49-F238E27FC236}">
                <a16:creationId xmlns:a16="http://schemas.microsoft.com/office/drawing/2014/main" id="{24623480-DB0D-D307-9477-48A91E5B647E}"/>
              </a:ext>
            </a:extLst>
          </p:cNvPr>
          <p:cNvPicPr>
            <a:picLocks noChangeAspect="1"/>
          </p:cNvPicPr>
          <p:nvPr/>
        </p:nvPicPr>
        <p:blipFill>
          <a:blip r:embed="rId5"/>
          <a:srcRect t="8475" r="-2" b="6068"/>
          <a:stretch>
            <a:fillRect/>
          </a:stretch>
        </p:blipFill>
        <p:spPr>
          <a:xfrm>
            <a:off x="198739" y="3510858"/>
            <a:ext cx="5804105" cy="3167426"/>
          </a:xfrm>
          <a:prstGeom prst="rect">
            <a:avLst/>
          </a:prstGeom>
        </p:spPr>
      </p:pic>
      <p:pic>
        <p:nvPicPr>
          <p:cNvPr id="6" name="Picture 5">
            <a:extLst>
              <a:ext uri="{FF2B5EF4-FFF2-40B4-BE49-F238E27FC236}">
                <a16:creationId xmlns:a16="http://schemas.microsoft.com/office/drawing/2014/main" id="{744AF200-19FA-1366-380F-12F90FB2D267}"/>
              </a:ext>
            </a:extLst>
          </p:cNvPr>
          <p:cNvPicPr>
            <a:picLocks noChangeAspect="1"/>
          </p:cNvPicPr>
          <p:nvPr/>
        </p:nvPicPr>
        <p:blipFill>
          <a:blip r:embed="rId6"/>
          <a:srcRect t="787" r="2" b="13668"/>
          <a:stretch>
            <a:fillRect/>
          </a:stretch>
        </p:blipFill>
        <p:spPr>
          <a:xfrm>
            <a:off x="6195372" y="3510857"/>
            <a:ext cx="5797883" cy="3167425"/>
          </a:xfrm>
          <a:prstGeom prst="rect">
            <a:avLst/>
          </a:prstGeom>
        </p:spPr>
      </p:pic>
    </p:spTree>
    <p:extLst>
      <p:ext uri="{BB962C8B-B14F-4D97-AF65-F5344CB8AC3E}">
        <p14:creationId xmlns:p14="http://schemas.microsoft.com/office/powerpoint/2010/main" val="308097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03B45CB-E46F-202F-31FE-DF7B906BEC9A}"/>
              </a:ext>
            </a:extLst>
          </p:cNvPr>
          <p:cNvPicPr>
            <a:picLocks noChangeAspect="1"/>
          </p:cNvPicPr>
          <p:nvPr/>
        </p:nvPicPr>
        <p:blipFill>
          <a:blip r:embed="rId2"/>
          <a:stretch>
            <a:fillRect/>
          </a:stretch>
        </p:blipFill>
        <p:spPr>
          <a:xfrm>
            <a:off x="6250115" y="1143000"/>
            <a:ext cx="5294716" cy="3807822"/>
          </a:xfrm>
          <a:prstGeom prst="rect">
            <a:avLst/>
          </a:prstGeom>
        </p:spPr>
      </p:pic>
      <p:cxnSp>
        <p:nvCxnSpPr>
          <p:cNvPr id="18" name="Straight Connector 17">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A72AC34-634F-56D3-507F-546201AF69BE}"/>
              </a:ext>
            </a:extLst>
          </p:cNvPr>
          <p:cNvPicPr>
            <a:picLocks noChangeAspect="1"/>
          </p:cNvPicPr>
          <p:nvPr/>
        </p:nvPicPr>
        <p:blipFill>
          <a:blip r:embed="rId3"/>
          <a:stretch>
            <a:fillRect/>
          </a:stretch>
        </p:blipFill>
        <p:spPr>
          <a:xfrm>
            <a:off x="546737" y="1142999"/>
            <a:ext cx="5294715" cy="3807823"/>
          </a:xfrm>
          <a:prstGeom prst="rect">
            <a:avLst/>
          </a:prstGeom>
        </p:spPr>
      </p:pic>
      <p:sp>
        <p:nvSpPr>
          <p:cNvPr id="2" name="TextBox 1">
            <a:extLst>
              <a:ext uri="{FF2B5EF4-FFF2-40B4-BE49-F238E27FC236}">
                <a16:creationId xmlns:a16="http://schemas.microsoft.com/office/drawing/2014/main" id="{DC205D1C-9F78-E91E-7AFF-B623A0B44362}"/>
              </a:ext>
            </a:extLst>
          </p:cNvPr>
          <p:cNvSpPr txBox="1"/>
          <p:nvPr/>
        </p:nvSpPr>
        <p:spPr>
          <a:xfrm>
            <a:off x="626533" y="702732"/>
            <a:ext cx="2963334" cy="307777"/>
          </a:xfrm>
          <a:prstGeom prst="rect">
            <a:avLst/>
          </a:prstGeom>
          <a:noFill/>
        </p:spPr>
        <p:txBody>
          <a:bodyPr wrap="square" rtlCol="0">
            <a:spAutoFit/>
          </a:bodyPr>
          <a:lstStyle/>
          <a:p>
            <a:r>
              <a:rPr lang="en-US" b="1" dirty="0"/>
              <a:t>OUTPUT:-</a:t>
            </a:r>
            <a:endParaRPr lang="en-IN" b="1" dirty="0"/>
          </a:p>
        </p:txBody>
      </p:sp>
    </p:spTree>
    <p:extLst>
      <p:ext uri="{BB962C8B-B14F-4D97-AF65-F5344CB8AC3E}">
        <p14:creationId xmlns:p14="http://schemas.microsoft.com/office/powerpoint/2010/main" val="3655834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73501C2-8203-3DAA-DE7E-57C99755E2F7}"/>
              </a:ext>
            </a:extLst>
          </p:cNvPr>
          <p:cNvPicPr>
            <a:picLocks noChangeAspect="1"/>
          </p:cNvPicPr>
          <p:nvPr/>
        </p:nvPicPr>
        <p:blipFill>
          <a:blip r:embed="rId2"/>
          <a:stretch>
            <a:fillRect/>
          </a:stretch>
        </p:blipFill>
        <p:spPr>
          <a:xfrm>
            <a:off x="643467" y="1410790"/>
            <a:ext cx="5294716" cy="3566160"/>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B27880E-2BE8-07F1-726E-6657B243D80B}"/>
              </a:ext>
            </a:extLst>
          </p:cNvPr>
          <p:cNvPicPr>
            <a:picLocks noChangeAspect="1"/>
          </p:cNvPicPr>
          <p:nvPr/>
        </p:nvPicPr>
        <p:blipFill>
          <a:blip r:embed="rId3"/>
          <a:stretch>
            <a:fillRect/>
          </a:stretch>
        </p:blipFill>
        <p:spPr>
          <a:xfrm>
            <a:off x="6253817" y="1410790"/>
            <a:ext cx="5294715" cy="3566160"/>
          </a:xfrm>
          <a:prstGeom prst="rect">
            <a:avLst/>
          </a:prstGeom>
        </p:spPr>
      </p:pic>
    </p:spTree>
    <p:extLst>
      <p:ext uri="{BB962C8B-B14F-4D97-AF65-F5344CB8AC3E}">
        <p14:creationId xmlns:p14="http://schemas.microsoft.com/office/powerpoint/2010/main" val="585959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6"/>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8581F2-2225-79C3-0162-7CB2BBD804F7}"/>
              </a:ext>
            </a:extLst>
          </p:cNvPr>
          <p:cNvPicPr>
            <a:picLocks noChangeAspect="1"/>
          </p:cNvPicPr>
          <p:nvPr/>
        </p:nvPicPr>
        <p:blipFill>
          <a:blip r:embed="rId3"/>
          <a:srcRect t="9091" r="66481" b="2"/>
          <a:stretch>
            <a:fillRect/>
          </a:stretch>
        </p:blipFill>
        <p:spPr>
          <a:xfrm>
            <a:off x="7405209" y="-272370"/>
            <a:ext cx="4495312" cy="7402739"/>
          </a:xfrm>
          <a:prstGeom prst="rect">
            <a:avLst/>
          </a:prstGeom>
          <a:effectLst>
            <a:softEdge rad="381000"/>
          </a:effectLst>
        </p:spPr>
      </p:pic>
      <p:sp>
        <p:nvSpPr>
          <p:cNvPr id="157" name="Rectangle 156">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Google Shape;138;p9"/>
          <p:cNvSpPr txBox="1"/>
          <p:nvPr/>
        </p:nvSpPr>
        <p:spPr>
          <a:xfrm>
            <a:off x="344399" y="386080"/>
            <a:ext cx="5941216" cy="1124712"/>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2800" b="1" i="0" u="none" strike="noStrike" kern="1200" cap="none" dirty="0">
                <a:solidFill>
                  <a:schemeClr val="tx1"/>
                </a:solidFill>
                <a:latin typeface="+mj-lt"/>
                <a:ea typeface="+mj-ea"/>
                <a:cs typeface="+mj-cs"/>
                <a:sym typeface="Arial"/>
              </a:rPr>
              <a:t>Role of Agentic AI in the solution </a:t>
            </a:r>
          </a:p>
        </p:txBody>
      </p:sp>
      <p:sp>
        <p:nvSpPr>
          <p:cNvPr id="159" name="Rectangle 15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1" name="Rectangle 16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Google Shape;139;p9"/>
          <p:cNvSpPr txBox="1"/>
          <p:nvPr/>
        </p:nvSpPr>
        <p:spPr>
          <a:xfrm>
            <a:off x="344399" y="1608476"/>
            <a:ext cx="6039538" cy="4863444"/>
          </a:xfrm>
          <a:prstGeom prst="rect">
            <a:avLst/>
          </a:prstGeom>
        </p:spPr>
        <p:txBody>
          <a:bodyPr spcFirstLastPara="1" vert="horz" lIns="91440" tIns="45720" rIns="91440" bIns="45720" rtlCol="0" anchor="t" anchorCtr="0">
            <a:normAutofit/>
          </a:bodyPr>
          <a:lstStyle/>
          <a:p>
            <a:pPr>
              <a:lnSpc>
                <a:spcPct val="90000"/>
              </a:lnSpc>
              <a:spcAft>
                <a:spcPts val="600"/>
              </a:spcAft>
            </a:pPr>
            <a:r>
              <a:rPr lang="en-US" kern="1200" dirty="0">
                <a:solidFill>
                  <a:schemeClr val="tx1"/>
                </a:solidFill>
                <a:latin typeface="+mn-lt"/>
                <a:ea typeface="+mn-ea"/>
                <a:cs typeface="+mn-cs"/>
              </a:rPr>
              <a:t>Agentic AI enables the </a:t>
            </a:r>
            <a:r>
              <a:rPr lang="en-US" b="1" kern="1200" dirty="0">
                <a:solidFill>
                  <a:schemeClr val="tx1"/>
                </a:solidFill>
                <a:latin typeface="+mn-lt"/>
                <a:ea typeface="+mn-ea"/>
                <a:cs typeface="+mn-cs"/>
              </a:rPr>
              <a:t>Recipe Preparation Agent</a:t>
            </a:r>
            <a:r>
              <a:rPr lang="en-US" kern="1200" dirty="0">
                <a:solidFill>
                  <a:schemeClr val="tx1"/>
                </a:solidFill>
                <a:latin typeface="+mn-lt"/>
                <a:ea typeface="+mn-ea"/>
                <a:cs typeface="+mn-cs"/>
              </a:rPr>
              <a:t> to function as an autonomous and intelligent cooking assistant. Instead of relying on a single AI model, it uses multiple specialized agents that work together to solve different aspects of the user's request.</a:t>
            </a:r>
          </a:p>
          <a:p>
            <a:pPr>
              <a:lnSpc>
                <a:spcPct val="90000"/>
              </a:lnSpc>
              <a:spcAft>
                <a:spcPts val="600"/>
              </a:spcAft>
            </a:pPr>
            <a:r>
              <a:rPr lang="en-US" kern="1200" dirty="0">
                <a:solidFill>
                  <a:schemeClr val="tx1"/>
                </a:solidFill>
                <a:latin typeface="+mn-lt"/>
                <a:ea typeface="+mn-ea"/>
                <a:cs typeface="+mn-cs"/>
              </a:rPr>
              <a:t>Each agent is responsible for a specific task:</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Recipe Recommendation Agent</a:t>
            </a:r>
            <a:r>
              <a:rPr lang="en-US" kern="1200" dirty="0">
                <a:solidFill>
                  <a:schemeClr val="tx1"/>
                </a:solidFill>
                <a:latin typeface="+mn-lt"/>
                <a:ea typeface="+mn-ea"/>
                <a:cs typeface="+mn-cs"/>
              </a:rPr>
              <a:t> – Suggests recipes based on available ingredients, cuisine, and dietary preferences.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Cooking Guidance Agent</a:t>
            </a:r>
            <a:r>
              <a:rPr lang="en-US" kern="1200" dirty="0">
                <a:solidFill>
                  <a:schemeClr val="tx1"/>
                </a:solidFill>
                <a:latin typeface="+mn-lt"/>
                <a:ea typeface="+mn-ea"/>
                <a:cs typeface="+mn-cs"/>
              </a:rPr>
              <a:t> – Provides clear, step-by-step cooking instructions and helpful cooking tips.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Ingredient Substitution Agent</a:t>
            </a:r>
            <a:r>
              <a:rPr lang="en-US" kern="1200" dirty="0">
                <a:solidFill>
                  <a:schemeClr val="tx1"/>
                </a:solidFill>
                <a:latin typeface="+mn-lt"/>
                <a:ea typeface="+mn-ea"/>
                <a:cs typeface="+mn-cs"/>
              </a:rPr>
              <a:t> – Recommends suitable alternatives when certain ingredients are unavailable.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Nutrition Analysis Agent</a:t>
            </a:r>
            <a:r>
              <a:rPr lang="en-US" kern="1200" dirty="0">
                <a:solidFill>
                  <a:schemeClr val="tx1"/>
                </a:solidFill>
                <a:latin typeface="+mn-lt"/>
                <a:ea typeface="+mn-ea"/>
                <a:cs typeface="+mn-cs"/>
              </a:rPr>
              <a:t> – Calculates nutritional values, calorie information, and suggests healthier meal options.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Shopping List Agent</a:t>
            </a:r>
            <a:r>
              <a:rPr lang="en-US" kern="1200" dirty="0">
                <a:solidFill>
                  <a:schemeClr val="tx1"/>
                </a:solidFill>
                <a:latin typeface="+mn-lt"/>
                <a:ea typeface="+mn-ea"/>
                <a:cs typeface="+mn-cs"/>
              </a:rPr>
              <a:t> – Generates a list of missing ingredients required for the selected recipe. </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By collaborating and sharing information, these agents deliver </a:t>
            </a:r>
            <a:r>
              <a:rPr lang="en-US" b="1" kern="1200" dirty="0">
                <a:solidFill>
                  <a:schemeClr val="tx1"/>
                </a:solidFill>
                <a:latin typeface="+mn-lt"/>
                <a:ea typeface="+mn-ea"/>
                <a:cs typeface="+mn-cs"/>
              </a:rPr>
              <a:t>accurate, personalized, context-aware, and efficient cooking assistance</a:t>
            </a:r>
            <a:r>
              <a:rPr lang="en-US" kern="1200" dirty="0">
                <a:solidFill>
                  <a:schemeClr val="tx1"/>
                </a:solidFill>
                <a:latin typeface="+mn-lt"/>
                <a:ea typeface="+mn-ea"/>
                <a:cs typeface="+mn-cs"/>
              </a:rPr>
              <a:t>, making meal preparation easier, faster, and more convenient for users of all skill levels.</a:t>
            </a:r>
          </a:p>
          <a:p>
            <a:pPr marL="0" marR="0" lvl="0" indent="-228600">
              <a:lnSpc>
                <a:spcPct val="90000"/>
              </a:lnSpc>
              <a:spcBef>
                <a:spcPts val="0"/>
              </a:spcBef>
              <a:spcAft>
                <a:spcPts val="600"/>
              </a:spcAft>
              <a:buFont typeface="Arial" panose="020B0604020202020204" pitchFamily="34" charset="0"/>
              <a:buChar char="•"/>
            </a:pPr>
            <a:endParaRPr lang="en-US" sz="800" kern="1200" dirty="0">
              <a:solidFill>
                <a:schemeClr val="tx1"/>
              </a:solidFill>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3" name="Picture 2">
            <a:extLst>
              <a:ext uri="{FF2B5EF4-FFF2-40B4-BE49-F238E27FC236}">
                <a16:creationId xmlns:a16="http://schemas.microsoft.com/office/drawing/2014/main" id="{06CA1632-A2A3-0831-B420-6FCCBC2FCA67}"/>
              </a:ext>
            </a:extLst>
          </p:cNvPr>
          <p:cNvPicPr>
            <a:picLocks noChangeAspect="1"/>
          </p:cNvPicPr>
          <p:nvPr/>
        </p:nvPicPr>
        <p:blipFill>
          <a:blip r:embed="rId3"/>
          <a:srcRect r="8016"/>
          <a:stretch>
            <a:fillRect/>
          </a:stretch>
        </p:blipFill>
        <p:spPr>
          <a:xfrm>
            <a:off x="2082801" y="-56535"/>
            <a:ext cx="10109200" cy="7321788"/>
          </a:xfrm>
          <a:prstGeom prst="rect">
            <a:avLst/>
          </a:prstGeom>
          <a:effectLst>
            <a:softEdge rad="355600"/>
          </a:effectLst>
        </p:spPr>
      </p:pic>
      <p:sp>
        <p:nvSpPr>
          <p:cNvPr id="157" name="Google Shape;157;p40"/>
          <p:cNvSpPr txBox="1"/>
          <p:nvPr/>
        </p:nvSpPr>
        <p:spPr>
          <a:xfrm>
            <a:off x="777240" y="57312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8091457" cy="4462720"/>
          </a:xfrm>
          <a:prstGeom prst="rect">
            <a:avLst/>
          </a:prstGeom>
          <a:noFill/>
          <a:ln>
            <a:noFill/>
          </a:ln>
        </p:spPr>
        <p:txBody>
          <a:bodyPr spcFirstLastPara="1" wrap="square" lIns="91425" tIns="45700" rIns="91425" bIns="45700" anchor="t" anchorCtr="0">
            <a:spAutoFit/>
          </a:bodyPr>
          <a:lstStyle/>
          <a:p>
            <a:r>
              <a:rPr lang="en-IN" sz="1800" b="1" dirty="0"/>
              <a:t>Multi-Agent AI Architecture</a:t>
            </a:r>
            <a:r>
              <a:rPr lang="en-IN" sz="1800" dirty="0"/>
              <a:t> – Multiple AI agents work together to perform specialized tasks.</a:t>
            </a:r>
          </a:p>
          <a:p>
            <a:r>
              <a:rPr lang="en-IN" sz="1800" b="1" dirty="0"/>
              <a:t>Personalized Recipe Generation</a:t>
            </a:r>
            <a:r>
              <a:rPr lang="en-IN" sz="1800" dirty="0"/>
              <a:t> – Suggests recipes based on user preferences and available ingredients.</a:t>
            </a:r>
          </a:p>
          <a:p>
            <a:r>
              <a:rPr lang="en-IN" sz="1800" b="1" dirty="0"/>
              <a:t>Ingredient Substitution</a:t>
            </a:r>
            <a:r>
              <a:rPr lang="en-IN" sz="1800" dirty="0"/>
              <a:t> – Recommends suitable alternatives for missing ingredients.</a:t>
            </a:r>
          </a:p>
          <a:p>
            <a:r>
              <a:rPr lang="en-IN" sz="1800" b="1" dirty="0"/>
              <a:t>RAG-Based Recipe Retrieval</a:t>
            </a:r>
            <a:r>
              <a:rPr lang="en-IN" sz="1800" dirty="0"/>
              <a:t> – Retrieves accurate recipes from a trusted knowledge base.</a:t>
            </a:r>
          </a:p>
          <a:p>
            <a:r>
              <a:rPr lang="en-IN" sz="1800" b="1" dirty="0"/>
              <a:t>Shopping List Generation</a:t>
            </a:r>
            <a:r>
              <a:rPr lang="en-IN" sz="1800" dirty="0"/>
              <a:t> – Creates a list of missing ingredients automatically.</a:t>
            </a:r>
          </a:p>
          <a:p>
            <a:r>
              <a:rPr lang="en-IN" sz="1800" b="1" dirty="0"/>
              <a:t>Nutrition Analysis</a:t>
            </a:r>
            <a:r>
              <a:rPr lang="en-IN" sz="1800" dirty="0"/>
              <a:t> – Provides calorie and nutritional information for recipes.</a:t>
            </a:r>
          </a:p>
          <a:p>
            <a:r>
              <a:rPr lang="en-IN" sz="1800" b="1" dirty="0"/>
              <a:t>Diet-Specific Recipes</a:t>
            </a:r>
            <a:r>
              <a:rPr lang="en-IN" sz="1800" dirty="0"/>
              <a:t> – Supports vegetarian, vegan, gluten-free, and other dietary needs.</a:t>
            </a:r>
          </a:p>
          <a:p>
            <a:r>
              <a:rPr lang="en-IN" sz="1800" b="1" dirty="0"/>
              <a:t>Beginner-Friendly Cooking Guidance</a:t>
            </a:r>
            <a:r>
              <a:rPr lang="en-IN" sz="1800" dirty="0"/>
              <a:t> – Offers simple, step-by-step cooking instructions.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3" name="Picture 2">
            <a:extLst>
              <a:ext uri="{FF2B5EF4-FFF2-40B4-BE49-F238E27FC236}">
                <a16:creationId xmlns:a16="http://schemas.microsoft.com/office/drawing/2014/main" id="{91F42B12-663C-B818-D312-611AD66058BA}"/>
              </a:ext>
            </a:extLst>
          </p:cNvPr>
          <p:cNvPicPr>
            <a:picLocks noChangeAspect="1"/>
          </p:cNvPicPr>
          <p:nvPr/>
        </p:nvPicPr>
        <p:blipFill>
          <a:blip r:embed="rId3"/>
          <a:srcRect r="8016"/>
          <a:stretch>
            <a:fillRect/>
          </a:stretch>
        </p:blipFill>
        <p:spPr>
          <a:xfrm>
            <a:off x="2082801" y="-56535"/>
            <a:ext cx="10109200" cy="7321788"/>
          </a:xfrm>
          <a:prstGeom prst="rect">
            <a:avLst/>
          </a:prstGeom>
          <a:effectLst>
            <a:softEdge rad="355600"/>
          </a:effectLst>
        </p:spPr>
      </p:pic>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05733BB-D6AB-2BE5-7808-DF4B70000A95}"/>
              </a:ext>
            </a:extLst>
          </p:cNvPr>
          <p:cNvSpPr txBox="1"/>
          <p:nvPr/>
        </p:nvSpPr>
        <p:spPr>
          <a:xfrm>
            <a:off x="548640" y="1838425"/>
            <a:ext cx="8566484" cy="369332"/>
          </a:xfrm>
          <a:prstGeom prst="rect">
            <a:avLst/>
          </a:prstGeom>
          <a:noFill/>
        </p:spPr>
        <p:txBody>
          <a:bodyPr wrap="square" rtlCol="0">
            <a:spAutoFit/>
          </a:bodyPr>
          <a:lstStyle/>
          <a:p>
            <a:r>
              <a:rPr lang="en-US" sz="1800" dirty="0">
                <a:hlinkClick r:id="rId4"/>
              </a:rPr>
              <a:t>GIT HUB LINK FOR RECIPE-PREPARATION-AGENT</a:t>
            </a:r>
            <a:endParaRPr lang="en-IN"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3" name="Picture 2">
            <a:extLst>
              <a:ext uri="{FF2B5EF4-FFF2-40B4-BE49-F238E27FC236}">
                <a16:creationId xmlns:a16="http://schemas.microsoft.com/office/drawing/2014/main" id="{E3C661F7-7051-45A6-AC9E-17B7F9FD56ED}"/>
              </a:ext>
            </a:extLst>
          </p:cNvPr>
          <p:cNvPicPr>
            <a:picLocks noChangeAspect="1"/>
          </p:cNvPicPr>
          <p:nvPr/>
        </p:nvPicPr>
        <p:blipFill>
          <a:blip r:embed="rId3"/>
          <a:srcRect b="4618"/>
          <a:stretch>
            <a:fillRect/>
          </a:stretch>
        </p:blipFill>
        <p:spPr>
          <a:xfrm>
            <a:off x="0" y="-35560"/>
            <a:ext cx="12395137" cy="6893560"/>
          </a:xfrm>
          <a:prstGeom prst="rect">
            <a:avLst/>
          </a:prstGeom>
        </p:spPr>
      </p:pic>
      <p:sp>
        <p:nvSpPr>
          <p:cNvPr id="172" name="Google Shape;172;p42"/>
          <p:cNvSpPr/>
          <p:nvPr/>
        </p:nvSpPr>
        <p:spPr>
          <a:xfrm>
            <a:off x="894037" y="832719"/>
            <a:ext cx="687121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792004" y="1536736"/>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IN" sz="2000" dirty="0"/>
              <a:t>Voice-enabled cooking assistant</a:t>
            </a:r>
          </a:p>
          <a:p>
            <a:pPr marL="342900" lvl="0" indent="-342900">
              <a:lnSpc>
                <a:spcPct val="162162"/>
              </a:lnSpc>
              <a:buClr>
                <a:srgbClr val="2B3541"/>
              </a:buClr>
              <a:buSzPts val="1850"/>
              <a:buFont typeface="Arial" panose="020B0604020202020204" pitchFamily="34" charset="0"/>
              <a:buChar char="•"/>
            </a:pPr>
            <a:r>
              <a:rPr lang="en-IN" sz="2000" dirty="0"/>
              <a:t>Image-based ingredient recognition </a:t>
            </a:r>
          </a:p>
          <a:p>
            <a:pPr marL="342900" lvl="0" indent="-342900">
              <a:lnSpc>
                <a:spcPct val="162162"/>
              </a:lnSpc>
              <a:buClr>
                <a:srgbClr val="2B3541"/>
              </a:buClr>
              <a:buSzPts val="1850"/>
              <a:buFont typeface="Arial" panose="020B0604020202020204" pitchFamily="34" charset="0"/>
              <a:buChar char="•"/>
            </a:pPr>
            <a:r>
              <a:rPr lang="en-IN" sz="2000" dirty="0"/>
              <a:t>Smart kitchen integration (IoT)</a:t>
            </a:r>
          </a:p>
          <a:p>
            <a:pPr marL="342900" lvl="0" indent="-342900">
              <a:lnSpc>
                <a:spcPct val="162162"/>
              </a:lnSpc>
              <a:buClr>
                <a:srgbClr val="2B3541"/>
              </a:buClr>
              <a:buSzPts val="1850"/>
              <a:buFont typeface="Arial" panose="020B0604020202020204" pitchFamily="34" charset="0"/>
              <a:buChar char="•"/>
            </a:pPr>
            <a:r>
              <a:rPr lang="en-IN" sz="2000" dirty="0"/>
              <a:t>Regional language support </a:t>
            </a:r>
          </a:p>
          <a:p>
            <a:pPr marL="342900" lvl="0" indent="-342900">
              <a:lnSpc>
                <a:spcPct val="162162"/>
              </a:lnSpc>
              <a:buClr>
                <a:srgbClr val="2B3541"/>
              </a:buClr>
              <a:buSzPts val="1850"/>
              <a:buFont typeface="Arial" panose="020B0604020202020204" pitchFamily="34" charset="0"/>
              <a:buChar char="•"/>
            </a:pPr>
            <a:r>
              <a:rPr lang="en-IN" sz="2000" dirty="0"/>
              <a:t>Recipe generation from refrigerator images </a:t>
            </a:r>
          </a:p>
          <a:p>
            <a:pPr marL="342900" lvl="0" indent="-342900">
              <a:lnSpc>
                <a:spcPct val="162162"/>
              </a:lnSpc>
              <a:buClr>
                <a:srgbClr val="2B3541"/>
              </a:buClr>
              <a:buSzPts val="1850"/>
              <a:buFont typeface="Arial" panose="020B0604020202020204" pitchFamily="34" charset="0"/>
              <a:buChar char="•"/>
            </a:pPr>
            <a:r>
              <a:rPr lang="en-IN" sz="2000" dirty="0"/>
              <a:t>Meal planning for a week Integration with food delivery apps</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5" name="Picture 4">
            <a:extLst>
              <a:ext uri="{FF2B5EF4-FFF2-40B4-BE49-F238E27FC236}">
                <a16:creationId xmlns:a16="http://schemas.microsoft.com/office/drawing/2014/main" id="{54414BCF-2183-AC1B-7C92-CCED025A76DC}"/>
              </a:ext>
            </a:extLst>
          </p:cNvPr>
          <p:cNvPicPr>
            <a:picLocks noChangeAspect="1"/>
          </p:cNvPicPr>
          <p:nvPr/>
        </p:nvPicPr>
        <p:blipFill>
          <a:blip r:embed="rId3"/>
          <a:srcRect b="11820"/>
          <a:stretch>
            <a:fillRect/>
          </a:stretch>
        </p:blipFill>
        <p:spPr>
          <a:xfrm>
            <a:off x="0" y="0"/>
            <a:ext cx="12192000" cy="6931741"/>
          </a:xfrm>
          <a:prstGeom prst="rect">
            <a:avLst/>
          </a:prstGeom>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361933" y="622878"/>
            <a:ext cx="6389965" cy="738623"/>
          </a:xfrm>
          <a:prstGeom prst="rect">
            <a:avLst/>
          </a:prstGeom>
          <a:noFill/>
          <a:ln>
            <a:noFill/>
          </a:ln>
        </p:spPr>
        <p:txBody>
          <a:bodyPr spcFirstLastPara="1" wrap="square" lIns="91425" tIns="45700" rIns="91425" bIns="45700" anchor="t" anchorCtr="0">
            <a:spAutoFit/>
          </a:bodyPr>
          <a:lstStyle/>
          <a:p>
            <a:r>
              <a:rPr lang="en-US" sz="2800" b="1" dirty="0"/>
              <a:t>Journey To Cloud Certificate-</a:t>
            </a:r>
            <a:endParaRPr lang="en-IN" sz="2800" b="1" dirty="0"/>
          </a:p>
          <a:p>
            <a:pPr marL="0" marR="0" lvl="0" indent="0" algn="l" rtl="0">
              <a:lnSpc>
                <a:spcPct val="100000"/>
              </a:lnSpc>
              <a:spcBef>
                <a:spcPts val="0"/>
              </a:spcBef>
              <a:spcAft>
                <a:spcPts val="0"/>
              </a:spcAft>
              <a:buNone/>
            </a:pPr>
            <a:endParaRPr dirty="0"/>
          </a:p>
        </p:txBody>
      </p:sp>
      <p:graphicFrame>
        <p:nvGraphicFramePr>
          <p:cNvPr id="2" name="Object 1">
            <a:extLst>
              <a:ext uri="{FF2B5EF4-FFF2-40B4-BE49-F238E27FC236}">
                <a16:creationId xmlns:a16="http://schemas.microsoft.com/office/drawing/2014/main" id="{E07B23AE-B119-00F9-BE82-863106F24897}"/>
              </a:ext>
            </a:extLst>
          </p:cNvPr>
          <p:cNvGraphicFramePr>
            <a:graphicFrameLocks noChangeAspect="1"/>
          </p:cNvGraphicFramePr>
          <p:nvPr>
            <p:extLst>
              <p:ext uri="{D42A27DB-BD31-4B8C-83A1-F6EECF244321}">
                <p14:modId xmlns:p14="http://schemas.microsoft.com/office/powerpoint/2010/main" val="1930758299"/>
              </p:ext>
            </p:extLst>
          </p:nvPr>
        </p:nvGraphicFramePr>
        <p:xfrm>
          <a:off x="1940126" y="1522769"/>
          <a:ext cx="6530106" cy="5045991"/>
        </p:xfrm>
        <a:graphic>
          <a:graphicData uri="http://schemas.openxmlformats.org/presentationml/2006/ole">
            <mc:AlternateContent xmlns:mc="http://schemas.openxmlformats.org/markup-compatibility/2006">
              <mc:Choice xmlns:v="urn:schemas-microsoft-com:vml" Requires="v">
                <p:oleObj name="Acrobat Document" r:id="rId4" imgW="5029101" imgH="3886200" progId="Acrobat.Document.DC">
                  <p:embed/>
                </p:oleObj>
              </mc:Choice>
              <mc:Fallback>
                <p:oleObj name="Acrobat Document" r:id="rId4" imgW="5029101" imgH="3886200" progId="Acrobat.Document.DC">
                  <p:embed/>
                  <p:pic>
                    <p:nvPicPr>
                      <p:cNvPr id="2" name="Object 1">
                        <a:extLst>
                          <a:ext uri="{FF2B5EF4-FFF2-40B4-BE49-F238E27FC236}">
                            <a16:creationId xmlns:a16="http://schemas.microsoft.com/office/drawing/2014/main" id="{E07B23AE-B119-00F9-BE82-863106F24897}"/>
                          </a:ext>
                        </a:extLst>
                      </p:cNvPr>
                      <p:cNvPicPr/>
                      <p:nvPr/>
                    </p:nvPicPr>
                    <p:blipFill>
                      <a:blip r:embed="rId5"/>
                      <a:stretch>
                        <a:fillRect/>
                      </a:stretch>
                    </p:blipFill>
                    <p:spPr>
                      <a:xfrm>
                        <a:off x="1940126" y="1522769"/>
                        <a:ext cx="6530106" cy="5045991"/>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B538E-DECF-3FDF-BAE8-7205D50FF6DD}"/>
              </a:ext>
            </a:extLst>
          </p:cNvPr>
          <p:cNvSpPr txBox="1"/>
          <p:nvPr/>
        </p:nvSpPr>
        <p:spPr>
          <a:xfrm>
            <a:off x="546537" y="536028"/>
            <a:ext cx="9865823" cy="1077218"/>
          </a:xfrm>
          <a:prstGeom prst="rect">
            <a:avLst/>
          </a:prstGeom>
          <a:noFill/>
        </p:spPr>
        <p:txBody>
          <a:bodyPr wrap="square" rtlCol="0">
            <a:spAutoFit/>
          </a:bodyPr>
          <a:lstStyle/>
          <a:p>
            <a:r>
              <a:rPr lang="en-US" sz="3200" b="1" dirty="0"/>
              <a:t>Certificate of Artificial Intelligence-</a:t>
            </a:r>
            <a:endParaRPr lang="en-IN" sz="3200" b="1" dirty="0"/>
          </a:p>
          <a:p>
            <a:endParaRPr lang="en-IN" sz="3200" dirty="0"/>
          </a:p>
        </p:txBody>
      </p:sp>
      <p:graphicFrame>
        <p:nvGraphicFramePr>
          <p:cNvPr id="4" name="Object 3">
            <a:extLst>
              <a:ext uri="{FF2B5EF4-FFF2-40B4-BE49-F238E27FC236}">
                <a16:creationId xmlns:a16="http://schemas.microsoft.com/office/drawing/2014/main" id="{5F6E52F3-32DE-F2B7-1FE3-3C985D9A0123}"/>
              </a:ext>
            </a:extLst>
          </p:cNvPr>
          <p:cNvGraphicFramePr>
            <a:graphicFrameLocks noChangeAspect="1"/>
          </p:cNvGraphicFramePr>
          <p:nvPr>
            <p:extLst>
              <p:ext uri="{D42A27DB-BD31-4B8C-83A1-F6EECF244321}">
                <p14:modId xmlns:p14="http://schemas.microsoft.com/office/powerpoint/2010/main" val="180718297"/>
              </p:ext>
            </p:extLst>
          </p:nvPr>
        </p:nvGraphicFramePr>
        <p:xfrm>
          <a:off x="2767898" y="2055629"/>
          <a:ext cx="5029200" cy="3886200"/>
        </p:xfrm>
        <a:graphic>
          <a:graphicData uri="http://schemas.openxmlformats.org/presentationml/2006/ole">
            <mc:AlternateContent xmlns:mc="http://schemas.openxmlformats.org/markup-compatibility/2006">
              <mc:Choice xmlns:v="urn:schemas-microsoft-com:vml" Requires="v">
                <p:oleObj name="Acrobat Document" r:id="rId3" imgW="5029101" imgH="3886200" progId="Acrobat.Document.DC">
                  <p:embed/>
                </p:oleObj>
              </mc:Choice>
              <mc:Fallback>
                <p:oleObj name="Acrobat Document" r:id="rId3" imgW="5029101" imgH="3886200" progId="Acrobat.Document.DC">
                  <p:embed/>
                  <p:pic>
                    <p:nvPicPr>
                      <p:cNvPr id="4" name="Object 3">
                        <a:extLst>
                          <a:ext uri="{FF2B5EF4-FFF2-40B4-BE49-F238E27FC236}">
                            <a16:creationId xmlns:a16="http://schemas.microsoft.com/office/drawing/2014/main" id="{5F6E52F3-32DE-F2B7-1FE3-3C985D9A0123}"/>
                          </a:ext>
                        </a:extLst>
                      </p:cNvPr>
                      <p:cNvPicPr/>
                      <p:nvPr/>
                    </p:nvPicPr>
                    <p:blipFill>
                      <a:blip r:embed="rId4"/>
                      <a:stretch>
                        <a:fillRect/>
                      </a:stretch>
                    </p:blipFill>
                    <p:spPr>
                      <a:xfrm>
                        <a:off x="2767898" y="2055629"/>
                        <a:ext cx="5029200" cy="3886200"/>
                      </a:xfrm>
                      <a:prstGeom prst="rect">
                        <a:avLst/>
                      </a:prstGeom>
                    </p:spPr>
                  </p:pic>
                </p:oleObj>
              </mc:Fallback>
            </mc:AlternateContent>
          </a:graphicData>
        </a:graphic>
      </p:graphicFrame>
    </p:spTree>
    <p:extLst>
      <p:ext uri="{BB962C8B-B14F-4D97-AF65-F5344CB8AC3E}">
        <p14:creationId xmlns:p14="http://schemas.microsoft.com/office/powerpoint/2010/main" val="288372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72A161C-9583-B78A-A0AE-64A10869AB9A}"/>
              </a:ext>
            </a:extLst>
          </p:cNvPr>
          <p:cNvPicPr>
            <a:picLocks noChangeAspect="1"/>
          </p:cNvPicPr>
          <p:nvPr/>
        </p:nvPicPr>
        <p:blipFill>
          <a:blip r:embed="rId2"/>
          <a:srcRect l="1" r="-9091" b="8180"/>
          <a:stretch>
            <a:fillRect/>
          </a:stretch>
        </p:blipFill>
        <p:spPr>
          <a:xfrm>
            <a:off x="0" y="0"/>
            <a:ext cx="13208000" cy="6856718"/>
          </a:xfrm>
          <a:prstGeom prst="rect">
            <a:avLst/>
          </a:prstGeom>
        </p:spPr>
      </p:pic>
      <p:sp>
        <p:nvSpPr>
          <p:cNvPr id="7" name="TextBox 6">
            <a:extLst>
              <a:ext uri="{FF2B5EF4-FFF2-40B4-BE49-F238E27FC236}">
                <a16:creationId xmlns:a16="http://schemas.microsoft.com/office/drawing/2014/main" id="{D3CAC9B9-A4D1-B2E5-4D3F-65C5AEE2D8A8}"/>
              </a:ext>
            </a:extLst>
          </p:cNvPr>
          <p:cNvSpPr txBox="1"/>
          <p:nvPr/>
        </p:nvSpPr>
        <p:spPr>
          <a:xfrm>
            <a:off x="533400" y="368300"/>
            <a:ext cx="5562600" cy="523220"/>
          </a:xfrm>
          <a:prstGeom prst="rect">
            <a:avLst/>
          </a:prstGeom>
          <a:noFill/>
        </p:spPr>
        <p:txBody>
          <a:bodyPr wrap="square" rtlCol="0">
            <a:spAutoFit/>
          </a:bodyPr>
          <a:lstStyle/>
          <a:p>
            <a:r>
              <a:rPr lang="en-US" sz="2800" b="1" dirty="0"/>
              <a:t>CyberSecurity Certificate-</a:t>
            </a:r>
            <a:endParaRPr lang="en-IN" sz="2800" b="1" dirty="0"/>
          </a:p>
        </p:txBody>
      </p:sp>
      <p:graphicFrame>
        <p:nvGraphicFramePr>
          <p:cNvPr id="2" name="Object 1">
            <a:extLst>
              <a:ext uri="{FF2B5EF4-FFF2-40B4-BE49-F238E27FC236}">
                <a16:creationId xmlns:a16="http://schemas.microsoft.com/office/drawing/2014/main" id="{2E3631C0-848D-B428-0608-BE9D8B61343A}"/>
              </a:ext>
            </a:extLst>
          </p:cNvPr>
          <p:cNvGraphicFramePr>
            <a:graphicFrameLocks noChangeAspect="1"/>
          </p:cNvGraphicFramePr>
          <p:nvPr>
            <p:extLst>
              <p:ext uri="{D42A27DB-BD31-4B8C-83A1-F6EECF244321}">
                <p14:modId xmlns:p14="http://schemas.microsoft.com/office/powerpoint/2010/main" val="3273559714"/>
              </p:ext>
            </p:extLst>
          </p:nvPr>
        </p:nvGraphicFramePr>
        <p:xfrm>
          <a:off x="798897" y="1485259"/>
          <a:ext cx="5467785" cy="3886200"/>
        </p:xfrm>
        <a:graphic>
          <a:graphicData uri="http://schemas.openxmlformats.org/presentationml/2006/ole">
            <mc:AlternateContent xmlns:mc="http://schemas.openxmlformats.org/markup-compatibility/2006">
              <mc:Choice xmlns:v="urn:schemas-microsoft-com:vml" Requires="v">
                <p:oleObj name="Acrobat Document" r:id="rId3" imgW="5029101" imgH="3886200" progId="Acrobat.Document.DC">
                  <p:embed/>
                </p:oleObj>
              </mc:Choice>
              <mc:Fallback>
                <p:oleObj name="Acrobat Document" r:id="rId3" imgW="5029101" imgH="3886200" progId="Acrobat.Document.DC">
                  <p:embed/>
                  <p:pic>
                    <p:nvPicPr>
                      <p:cNvPr id="2" name="Object 1">
                        <a:extLst>
                          <a:ext uri="{FF2B5EF4-FFF2-40B4-BE49-F238E27FC236}">
                            <a16:creationId xmlns:a16="http://schemas.microsoft.com/office/drawing/2014/main" id="{2E3631C0-848D-B428-0608-BE9D8B61343A}"/>
                          </a:ext>
                        </a:extLst>
                      </p:cNvPr>
                      <p:cNvPicPr/>
                      <p:nvPr/>
                    </p:nvPicPr>
                    <p:blipFill>
                      <a:blip r:embed="rId4"/>
                      <a:stretch>
                        <a:fillRect/>
                      </a:stretch>
                    </p:blipFill>
                    <p:spPr>
                      <a:xfrm>
                        <a:off x="798897" y="1485259"/>
                        <a:ext cx="5467785" cy="3886200"/>
                      </a:xfrm>
                      <a:prstGeom prst="rect">
                        <a:avLst/>
                      </a:prstGeom>
                    </p:spPr>
                  </p:pic>
                </p:oleObj>
              </mc:Fallback>
            </mc:AlternateContent>
          </a:graphicData>
        </a:graphic>
      </p:graphicFrame>
    </p:spTree>
    <p:extLst>
      <p:ext uri="{BB962C8B-B14F-4D97-AF65-F5344CB8AC3E}">
        <p14:creationId xmlns:p14="http://schemas.microsoft.com/office/powerpoint/2010/main" val="263307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BF0920-DC21-2F3A-DF43-94D4730A26E8}"/>
              </a:ext>
            </a:extLst>
          </p:cNvPr>
          <p:cNvPicPr>
            <a:picLocks noChangeAspect="1"/>
          </p:cNvPicPr>
          <p:nvPr/>
        </p:nvPicPr>
        <p:blipFill>
          <a:blip r:embed="rId2"/>
          <a:srcRect t="21640" r="-2" b="6777"/>
          <a:stretch>
            <a:fillRect/>
          </a:stretch>
        </p:blipFill>
        <p:spPr>
          <a:xfrm>
            <a:off x="-100361" y="0"/>
            <a:ext cx="12292361" cy="6858000"/>
          </a:xfrm>
          <a:prstGeom prst="rect">
            <a:avLst/>
          </a:prstGeom>
        </p:spPr>
      </p:pic>
      <p:graphicFrame>
        <p:nvGraphicFramePr>
          <p:cNvPr id="5" name="Object 4">
            <a:extLst>
              <a:ext uri="{FF2B5EF4-FFF2-40B4-BE49-F238E27FC236}">
                <a16:creationId xmlns:a16="http://schemas.microsoft.com/office/drawing/2014/main" id="{4F2C177B-4932-56F1-661C-688DB6F3253A}"/>
              </a:ext>
            </a:extLst>
          </p:cNvPr>
          <p:cNvGraphicFramePr>
            <a:graphicFrameLocks noChangeAspect="1"/>
          </p:cNvGraphicFramePr>
          <p:nvPr>
            <p:extLst>
              <p:ext uri="{D42A27DB-BD31-4B8C-83A1-F6EECF244321}">
                <p14:modId xmlns:p14="http://schemas.microsoft.com/office/powerpoint/2010/main" val="1052880741"/>
              </p:ext>
            </p:extLst>
          </p:nvPr>
        </p:nvGraphicFramePr>
        <p:xfrm>
          <a:off x="1237785" y="1851102"/>
          <a:ext cx="6612673" cy="4383281"/>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5" name="Object 4">
                        <a:extLst>
                          <a:ext uri="{FF2B5EF4-FFF2-40B4-BE49-F238E27FC236}">
                            <a16:creationId xmlns:a16="http://schemas.microsoft.com/office/drawing/2014/main" id="{4F2C177B-4932-56F1-661C-688DB6F3253A}"/>
                          </a:ext>
                        </a:extLst>
                      </p:cNvPr>
                      <p:cNvPicPr/>
                      <p:nvPr/>
                    </p:nvPicPr>
                    <p:blipFill>
                      <a:blip r:embed="rId4"/>
                      <a:stretch>
                        <a:fillRect/>
                      </a:stretch>
                    </p:blipFill>
                    <p:spPr>
                      <a:xfrm>
                        <a:off x="1237785" y="1851102"/>
                        <a:ext cx="6612673" cy="4383281"/>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120A7882-35C4-A8EC-2441-88A8A71F4F0F}"/>
              </a:ext>
            </a:extLst>
          </p:cNvPr>
          <p:cNvSpPr txBox="1"/>
          <p:nvPr/>
        </p:nvSpPr>
        <p:spPr>
          <a:xfrm>
            <a:off x="532140" y="623617"/>
            <a:ext cx="7092176" cy="461665"/>
          </a:xfrm>
          <a:prstGeom prst="rect">
            <a:avLst/>
          </a:prstGeom>
          <a:noFill/>
        </p:spPr>
        <p:txBody>
          <a:bodyPr wrap="square" rtlCol="0">
            <a:spAutoFit/>
          </a:bodyPr>
          <a:lstStyle/>
          <a:p>
            <a:r>
              <a:rPr lang="en-US" sz="2400" b="1" dirty="0"/>
              <a:t>Cybersecurity with Generative AI Certificate-</a:t>
            </a:r>
            <a:endParaRPr lang="en-IN" sz="2400" b="1" dirty="0"/>
          </a:p>
        </p:txBody>
      </p:sp>
    </p:spTree>
    <p:extLst>
      <p:ext uri="{BB962C8B-B14F-4D97-AF65-F5344CB8AC3E}">
        <p14:creationId xmlns:p14="http://schemas.microsoft.com/office/powerpoint/2010/main" val="370231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3" name="Picture 2">
            <a:extLst>
              <a:ext uri="{FF2B5EF4-FFF2-40B4-BE49-F238E27FC236}">
                <a16:creationId xmlns:a16="http://schemas.microsoft.com/office/drawing/2014/main" id="{31186931-E580-EFD6-FFF6-7B90087C5D6C}"/>
              </a:ext>
            </a:extLst>
          </p:cNvPr>
          <p:cNvPicPr>
            <a:picLocks noChangeAspect="1"/>
          </p:cNvPicPr>
          <p:nvPr/>
        </p:nvPicPr>
        <p:blipFill>
          <a:blip r:embed="rId3"/>
          <a:srcRect l="11293" t="6909" r="6871" b="11118"/>
          <a:stretch>
            <a:fillRect/>
          </a:stretch>
        </p:blipFill>
        <p:spPr>
          <a:xfrm>
            <a:off x="-1" y="0"/>
            <a:ext cx="12192001" cy="6858000"/>
          </a:xfrm>
          <a:prstGeom prst="rect">
            <a:avLst/>
          </a:prstGeom>
        </p:spPr>
      </p:pic>
      <p:sp>
        <p:nvSpPr>
          <p:cNvPr id="189" name="Google Shape;189;p44"/>
          <p:cNvSpPr txBox="1"/>
          <p:nvPr/>
        </p:nvSpPr>
        <p:spPr>
          <a:xfrm>
            <a:off x="176696" y="226390"/>
            <a:ext cx="6414604" cy="6770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graphicFrame>
        <p:nvGraphicFramePr>
          <p:cNvPr id="4" name="Object 3">
            <a:extLst>
              <a:ext uri="{FF2B5EF4-FFF2-40B4-BE49-F238E27FC236}">
                <a16:creationId xmlns:a16="http://schemas.microsoft.com/office/drawing/2014/main" id="{EB68B66D-BBC5-BB79-81D7-310FA1ADA5F1}"/>
              </a:ext>
            </a:extLst>
          </p:cNvPr>
          <p:cNvGraphicFramePr>
            <a:graphicFrameLocks noChangeAspect="1"/>
          </p:cNvGraphicFramePr>
          <p:nvPr>
            <p:extLst>
              <p:ext uri="{D42A27DB-BD31-4B8C-83A1-F6EECF244321}">
                <p14:modId xmlns:p14="http://schemas.microsoft.com/office/powerpoint/2010/main" val="4080992446"/>
              </p:ext>
            </p:extLst>
          </p:nvPr>
        </p:nvGraphicFramePr>
        <p:xfrm>
          <a:off x="1813374" y="1774660"/>
          <a:ext cx="8283126" cy="5143952"/>
        </p:xfrm>
        <a:graphic>
          <a:graphicData uri="http://schemas.openxmlformats.org/presentationml/2006/ole">
            <mc:AlternateContent xmlns:mc="http://schemas.openxmlformats.org/markup-compatibility/2006">
              <mc:Choice xmlns:v="urn:schemas-microsoft-com:vml" Requires="v">
                <p:oleObj name="Acrobat Document" r:id="rId4" imgW="5346330" imgH="3778206" progId="Acrobat.Document.DC">
                  <p:embed/>
                </p:oleObj>
              </mc:Choice>
              <mc:Fallback>
                <p:oleObj name="Acrobat Document" r:id="rId4" imgW="5346330" imgH="3778206" progId="Acrobat.Document.DC">
                  <p:embed/>
                  <p:pic>
                    <p:nvPicPr>
                      <p:cNvPr id="4" name="Object 3">
                        <a:extLst>
                          <a:ext uri="{FF2B5EF4-FFF2-40B4-BE49-F238E27FC236}">
                            <a16:creationId xmlns:a16="http://schemas.microsoft.com/office/drawing/2014/main" id="{EB68B66D-BBC5-BB79-81D7-310FA1ADA5F1}"/>
                          </a:ext>
                        </a:extLst>
                      </p:cNvPr>
                      <p:cNvPicPr/>
                      <p:nvPr/>
                    </p:nvPicPr>
                    <p:blipFill>
                      <a:blip r:embed="rId5"/>
                      <a:stretch>
                        <a:fillRect/>
                      </a:stretch>
                    </p:blipFill>
                    <p:spPr>
                      <a:xfrm>
                        <a:off x="1813374" y="1774660"/>
                        <a:ext cx="8283126" cy="5143952"/>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EB5709-ED8E-1885-B07D-90927133D66F}"/>
              </a:ext>
            </a:extLst>
          </p:cNvPr>
          <p:cNvPicPr>
            <a:picLocks noChangeAspect="1"/>
          </p:cNvPicPr>
          <p:nvPr/>
        </p:nvPicPr>
        <p:blipFill>
          <a:blip r:embed="rId2"/>
          <a:srcRect l="11293" t="6909" r="6871" b="11118"/>
          <a:stretch>
            <a:fillRect/>
          </a:stretch>
        </p:blipFill>
        <p:spPr>
          <a:xfrm>
            <a:off x="-1" y="0"/>
            <a:ext cx="12192001" cy="6858000"/>
          </a:xfrm>
          <a:prstGeom prst="rect">
            <a:avLst/>
          </a:prstGeom>
        </p:spPr>
      </p:pic>
      <p:sp>
        <p:nvSpPr>
          <p:cNvPr id="4" name="TextBox 3">
            <a:extLst>
              <a:ext uri="{FF2B5EF4-FFF2-40B4-BE49-F238E27FC236}">
                <a16:creationId xmlns:a16="http://schemas.microsoft.com/office/drawing/2014/main" id="{B3998FC9-868B-33B4-92A0-195D29706152}"/>
              </a:ext>
            </a:extLst>
          </p:cNvPr>
          <p:cNvSpPr txBox="1"/>
          <p:nvPr/>
        </p:nvSpPr>
        <p:spPr>
          <a:xfrm>
            <a:off x="981306" y="836341"/>
            <a:ext cx="8103699" cy="954107"/>
          </a:xfrm>
          <a:prstGeom prst="rect">
            <a:avLst/>
          </a:prstGeom>
          <a:noFill/>
        </p:spPr>
        <p:txBody>
          <a:bodyPr wrap="square" rtlCol="0">
            <a:spAutoFit/>
          </a:bodyPr>
          <a:lstStyle/>
          <a:p>
            <a:r>
              <a:rPr lang="en-US" sz="2800" b="1" dirty="0"/>
              <a:t>Exploring Quantum Computing Certificate-</a:t>
            </a:r>
            <a:endParaRPr lang="en-IN" sz="2800" b="1" dirty="0"/>
          </a:p>
          <a:p>
            <a:endParaRPr lang="en-IN" sz="2800" dirty="0"/>
          </a:p>
        </p:txBody>
      </p:sp>
      <p:graphicFrame>
        <p:nvGraphicFramePr>
          <p:cNvPr id="5" name="Object 4">
            <a:extLst>
              <a:ext uri="{FF2B5EF4-FFF2-40B4-BE49-F238E27FC236}">
                <a16:creationId xmlns:a16="http://schemas.microsoft.com/office/drawing/2014/main" id="{92CF1951-84C9-DFFE-BE26-208F928487A5}"/>
              </a:ext>
            </a:extLst>
          </p:cNvPr>
          <p:cNvGraphicFramePr>
            <a:graphicFrameLocks noChangeAspect="1"/>
          </p:cNvGraphicFramePr>
          <p:nvPr>
            <p:extLst>
              <p:ext uri="{D42A27DB-BD31-4B8C-83A1-F6EECF244321}">
                <p14:modId xmlns:p14="http://schemas.microsoft.com/office/powerpoint/2010/main" val="781569313"/>
              </p:ext>
            </p:extLst>
          </p:nvPr>
        </p:nvGraphicFramePr>
        <p:xfrm>
          <a:off x="1262114" y="1932038"/>
          <a:ext cx="5346700" cy="3778250"/>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5" name="Object 4">
                        <a:extLst>
                          <a:ext uri="{FF2B5EF4-FFF2-40B4-BE49-F238E27FC236}">
                            <a16:creationId xmlns:a16="http://schemas.microsoft.com/office/drawing/2014/main" id="{92CF1951-84C9-DFFE-BE26-208F928487A5}"/>
                          </a:ext>
                        </a:extLst>
                      </p:cNvPr>
                      <p:cNvPicPr/>
                      <p:nvPr/>
                    </p:nvPicPr>
                    <p:blipFill>
                      <a:blip r:embed="rId4"/>
                      <a:stretch>
                        <a:fillRect/>
                      </a:stretch>
                    </p:blipFill>
                    <p:spPr>
                      <a:xfrm>
                        <a:off x="1262114" y="1932038"/>
                        <a:ext cx="5346700" cy="3778250"/>
                      </a:xfrm>
                      <a:prstGeom prst="rect">
                        <a:avLst/>
                      </a:prstGeom>
                    </p:spPr>
                  </p:pic>
                </p:oleObj>
              </mc:Fallback>
            </mc:AlternateContent>
          </a:graphicData>
        </a:graphic>
      </p:graphicFrame>
    </p:spTree>
    <p:extLst>
      <p:ext uri="{BB962C8B-B14F-4D97-AF65-F5344CB8AC3E}">
        <p14:creationId xmlns:p14="http://schemas.microsoft.com/office/powerpoint/2010/main" val="178756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4"/>
        <p:cNvGrpSpPr/>
        <p:nvPr/>
      </p:nvGrpSpPr>
      <p:grpSpPr>
        <a:xfrm>
          <a:off x="0" y="0"/>
          <a:ext cx="0" cy="0"/>
          <a:chOff x="0" y="0"/>
          <a:chExt cx="0" cy="0"/>
        </a:xfrm>
      </p:grpSpPr>
      <p:sp>
        <p:nvSpPr>
          <p:cNvPr id="200" name="Rectangle 199">
            <a:extLst>
              <a:ext uri="{FF2B5EF4-FFF2-40B4-BE49-F238E27FC236}">
                <a16:creationId xmlns:a16="http://schemas.microsoft.com/office/drawing/2014/main" id="{2F19B711-C590-44D1-9AA8-9F143B0E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C0C79CF2-6A1C-4636-84CE-ABB2BE191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7A5D17DF-AD65-402C-A95C-F13C770C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6B4FC0B-31E1-3A41-D5F9-B8A875A1E281}"/>
              </a:ext>
            </a:extLst>
          </p:cNvPr>
          <p:cNvPicPr>
            <a:picLocks noChangeAspect="1"/>
          </p:cNvPicPr>
          <p:nvPr/>
        </p:nvPicPr>
        <p:blipFill>
          <a:blip r:embed="rId3"/>
          <a:stretch>
            <a:fillRect/>
          </a:stretch>
        </p:blipFill>
        <p:spPr>
          <a:xfrm>
            <a:off x="557561" y="643466"/>
            <a:ext cx="11157425" cy="5734474"/>
          </a:xfrm>
          <a:prstGeom prst="rect">
            <a:avLst/>
          </a:prstGeom>
        </p:spPr>
      </p:pic>
      <p:pic>
        <p:nvPicPr>
          <p:cNvPr id="195" name="Google Shape;195;p20"/>
          <p:cNvPicPr preferRelativeResize="0"/>
          <p:nvPr/>
        </p:nvPicPr>
        <p:blipFill rotWithShape="1">
          <a:blip r:embed="rId4"/>
          <a:stretch/>
        </p:blipFill>
        <p:spPr>
          <a:xfrm>
            <a:off x="1116150" y="2020287"/>
            <a:ext cx="6935029" cy="2674375"/>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2476</TotalTime>
  <Words>664</Words>
  <Application>Microsoft Office PowerPoint</Application>
  <PresentationFormat>Widescreen</PresentationFormat>
  <Paragraphs>83</Paragraphs>
  <Slides>19</Slides>
  <Notes>13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4" baseType="lpstr">
      <vt:lpstr>Arial</vt:lpstr>
      <vt:lpstr>Calibri</vt:lpstr>
      <vt:lpstr>Times New Roman</vt:lpstr>
      <vt:lpstr>Office Theme</vt:lpstr>
      <vt:lpstr>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Pragati Choudhary</cp:lastModifiedBy>
  <cp:revision>2</cp:revision>
  <dcterms:created xsi:type="dcterms:W3CDTF">2025-07-08T05:06:56Z</dcterms:created>
  <dcterms:modified xsi:type="dcterms:W3CDTF">2026-07-17T17:17:21Z</dcterms:modified>
</cp:coreProperties>
</file>